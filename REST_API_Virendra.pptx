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546" r:id="rId2"/>
    <p:sldId id="308" r:id="rId3"/>
    <p:sldId id="377" r:id="rId4"/>
    <p:sldId id="381" r:id="rId5"/>
    <p:sldId id="549" r:id="rId6"/>
    <p:sldId id="559" r:id="rId7"/>
    <p:sldId id="551" r:id="rId8"/>
    <p:sldId id="552" r:id="rId9"/>
    <p:sldId id="550" r:id="rId10"/>
    <p:sldId id="557" r:id="rId11"/>
    <p:sldId id="547" r:id="rId12"/>
    <p:sldId id="554" r:id="rId13"/>
    <p:sldId id="553" r:id="rId14"/>
    <p:sldId id="555" r:id="rId15"/>
    <p:sldId id="556" r:id="rId16"/>
    <p:sldId id="558" r:id="rId1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500"/>
    <a:srgbClr val="003865"/>
    <a:srgbClr val="C0C0C0"/>
    <a:srgbClr val="F2F2F2"/>
    <a:srgbClr val="EAEAEA"/>
    <a:srgbClr val="787878"/>
    <a:srgbClr val="961B81"/>
    <a:srgbClr val="FBFBF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7" autoAdjust="0"/>
    <p:restoredTop sz="95501" autoAdjust="0"/>
  </p:normalViewPr>
  <p:slideViewPr>
    <p:cSldViewPr snapToGrid="0">
      <p:cViewPr varScale="1">
        <p:scale>
          <a:sx n="85" d="100"/>
          <a:sy n="85" d="100"/>
        </p:scale>
        <p:origin x="931" y="62"/>
      </p:cViewPr>
      <p:guideLst/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E5AE1-1D5F-483D-90B5-92A2A708F59B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19B2B-FBA9-4EA3-BAD3-94A21FB4DC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919B2B-FBA9-4EA3-BAD3-94A21FB4DC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733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 Intro"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pic>
        <p:nvPicPr>
          <p:cNvPr id="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029" y="2514600"/>
            <a:ext cx="3295941" cy="18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0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rt Grey"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  <p:cxnSp>
        <p:nvCxnSpPr>
          <p:cNvPr id="11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15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Orange">
    <p:bg>
      <p:bgPr>
        <a:solidFill>
          <a:srgbClr val="FFB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6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cxnSp>
        <p:nvCxnSpPr>
          <p:cNvPr id="37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5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32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78787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cxnSp>
        <p:nvCxnSpPr>
          <p:cNvPr id="37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rgbClr val="787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Blue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6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9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Purple">
    <p:bg>
      <p:bgPr>
        <a:solidFill>
          <a:srgbClr val="961B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6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1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3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0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2200" y="802696"/>
            <a:ext cx="5181600" cy="1325563"/>
          </a:xfrm>
        </p:spPr>
        <p:txBody>
          <a:bodyPr anchor="b" anchorCtr="0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141"/>
            <a:ext cx="5181600" cy="38388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5194300" cy="53698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cxnSp>
        <p:nvCxnSpPr>
          <p:cNvPr id="12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87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2200" y="802696"/>
            <a:ext cx="5181600" cy="1325563"/>
          </a:xfrm>
        </p:spPr>
        <p:txBody>
          <a:bodyPr anchor="b" anchorCtr="0"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141"/>
            <a:ext cx="5181600" cy="3838821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5194300" cy="5369844"/>
          </a:xfrm>
        </p:spPr>
        <p:txBody>
          <a:bodyPr/>
          <a:lstStyle>
            <a:lvl1pPr marL="0" indent="0">
              <a:buNone/>
              <a:defRPr sz="3200">
                <a:solidFill>
                  <a:srgbClr val="787878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cxnSp>
        <p:nvCxnSpPr>
          <p:cNvPr id="12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80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75275"/>
            <a:ext cx="4489502" cy="3797247"/>
          </a:xfrm>
          <a:prstGeom prst="round2DiagRect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4489200" cy="3819472"/>
          </a:xfrm>
          <a:prstGeom prst="round2Diag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rgbClr val="787878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0092" y="2467261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990248" y="2467260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78787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52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rectang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75275"/>
            <a:ext cx="4489502" cy="3767019"/>
          </a:xfrm>
          <a:prstGeom prst="round2DiagRect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4489200" cy="3789244"/>
          </a:xfrm>
          <a:prstGeom prst="round2DiagRect">
            <a:avLst/>
          </a:prstGeom>
          <a:solidFill>
            <a:srgbClr val="787878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0092" y="2467261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990248" y="2467260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4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tear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092" y="1175275"/>
            <a:ext cx="3798000" cy="3797247"/>
          </a:xfrm>
          <a:prstGeom prst="teardrop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3798000" cy="3798000"/>
          </a:xfrm>
          <a:prstGeom prst="teardrop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rgbClr val="787878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84977" y="2817853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629150" y="2817854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78787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4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teardrop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9112" y="1175274"/>
            <a:ext cx="3798000" cy="3798000"/>
          </a:xfrm>
          <a:prstGeom prst="teardrop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3798000" cy="3798000"/>
          </a:xfrm>
          <a:prstGeom prst="teardrop">
            <a:avLst/>
          </a:prstGeom>
          <a:solidFill>
            <a:srgbClr val="787878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893997" y="2818606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629150" y="2818606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33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60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99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06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73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11132232" cy="53698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57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or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11132232" cy="536984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47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58459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9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bor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584593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2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59CC-B640-4DB3-BB6F-301CDED75AAD}" type="datetimeFigureOut">
              <a:rPr lang="sv-SE" smtClean="0"/>
              <a:t>2026-04-06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418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49" r:id="rId2"/>
    <p:sldLayoutId id="2147483674" r:id="rId3"/>
    <p:sldLayoutId id="2147483681" r:id="rId4"/>
    <p:sldLayoutId id="2147483673" r:id="rId5"/>
    <p:sldLayoutId id="2147483672" r:id="rId6"/>
    <p:sldLayoutId id="2147483650" r:id="rId7"/>
    <p:sldLayoutId id="2147483682" r:id="rId8"/>
    <p:sldLayoutId id="2147483652" r:id="rId9"/>
    <p:sldLayoutId id="2147483683" r:id="rId10"/>
    <p:sldLayoutId id="2147483689" r:id="rId11"/>
    <p:sldLayoutId id="2147483690" r:id="rId12"/>
    <p:sldLayoutId id="2147483675" r:id="rId13"/>
    <p:sldLayoutId id="2147483676" r:id="rId14"/>
    <p:sldLayoutId id="2147483686" r:id="rId15"/>
    <p:sldLayoutId id="2147483687" r:id="rId16"/>
    <p:sldLayoutId id="2147483654" r:id="rId17"/>
    <p:sldLayoutId id="2147483684" r:id="rId18"/>
    <p:sldLayoutId id="2147483655" r:id="rId19"/>
    <p:sldLayoutId id="2147483685" r:id="rId20"/>
    <p:sldLayoutId id="2147483677" r:id="rId21"/>
    <p:sldLayoutId id="2147483678" r:id="rId22"/>
    <p:sldLayoutId id="2147483680" r:id="rId23"/>
    <p:sldLayoutId id="214748367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crowdstrike.com/cybersecurity-101/observability/crud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REST API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079" y="4197783"/>
            <a:ext cx="11501792" cy="1655762"/>
          </a:xfrm>
        </p:spPr>
        <p:txBody>
          <a:bodyPr>
            <a:normAutofit/>
          </a:bodyPr>
          <a:lstStyle/>
          <a:p>
            <a:r>
              <a:rPr lang="en-US" dirty="0" smtClean="0"/>
              <a:t>Author </a:t>
            </a:r>
            <a:r>
              <a:rPr lang="en-US" smtClean="0"/>
              <a:t>: Virendra </a:t>
            </a:r>
            <a:r>
              <a:rPr lang="en-US" dirty="0" smtClean="0"/>
              <a:t>Sharma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62" y="6341312"/>
            <a:ext cx="2248609" cy="400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4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624" y="499261"/>
            <a:ext cx="11501792" cy="776075"/>
          </a:xfrm>
        </p:spPr>
        <p:txBody>
          <a:bodyPr>
            <a:normAutofit/>
          </a:bodyPr>
          <a:lstStyle/>
          <a:p>
            <a:r>
              <a:rPr lang="en-US" sz="4800" dirty="0"/>
              <a:t>Traditional web applications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9BF87CDC-B486-494A-ACC8-03C89E88152F}"/>
              </a:ext>
            </a:extLst>
          </p:cNvPr>
          <p:cNvGrpSpPr/>
          <p:nvPr/>
        </p:nvGrpSpPr>
        <p:grpSpPr>
          <a:xfrm>
            <a:off x="1573696" y="1066393"/>
            <a:ext cx="2236304" cy="2209800"/>
            <a:chOff x="2345635" y="1690688"/>
            <a:chExt cx="2236304" cy="2209800"/>
          </a:xfrm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7B000BC2-1E72-4DDF-94BB-7BB2323904BB}"/>
                </a:ext>
              </a:extLst>
            </p:cNvPr>
            <p:cNvSpPr/>
            <p:nvPr/>
          </p:nvSpPr>
          <p:spPr>
            <a:xfrm>
              <a:off x="3220278" y="2208832"/>
              <a:ext cx="1242391" cy="900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aphic 18" descr="Computer">
              <a:extLst>
                <a:ext uri="{FF2B5EF4-FFF2-40B4-BE49-F238E27FC236}">
                  <a16:creationId xmlns="" xmlns:a16="http://schemas.microsoft.com/office/drawing/2014/main" id="{DD596ADE-C525-4BE7-8CF5-60ECD26C9AC6}"/>
                </a:ext>
              </a:extLst>
            </p:cNvPr>
            <p:cNvGrpSpPr/>
            <p:nvPr/>
          </p:nvGrpSpPr>
          <p:grpSpPr>
            <a:xfrm flipH="1">
              <a:off x="2345635" y="1690688"/>
              <a:ext cx="2236304" cy="2209800"/>
              <a:chOff x="3429000" y="2173356"/>
              <a:chExt cx="2209800" cy="22098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="" xmlns:a16="http://schemas.microsoft.com/office/drawing/2014/main" id="{1EB6B1B1-BF8C-4B99-B409-0F3224D6A70E}"/>
                  </a:ext>
                </a:extLst>
              </p:cNvPr>
              <p:cNvSpPr/>
              <p:nvPr/>
            </p:nvSpPr>
            <p:spPr>
              <a:xfrm>
                <a:off x="3433316" y="2592010"/>
                <a:ext cx="1450181" cy="1358106"/>
              </a:xfrm>
              <a:custGeom>
                <a:avLst/>
                <a:gdLst>
                  <a:gd name="connsiteX0" fmla="*/ 1284734 w 1450181"/>
                  <a:gd name="connsiteY0" fmla="*/ 916434 h 1358106"/>
                  <a:gd name="connsiteX1" fmla="*/ 179834 w 1450181"/>
                  <a:gd name="connsiteY1" fmla="*/ 916434 h 1358106"/>
                  <a:gd name="connsiteX2" fmla="*/ 179834 w 1450181"/>
                  <a:gd name="connsiteY2" fmla="*/ 179834 h 1358106"/>
                  <a:gd name="connsiteX3" fmla="*/ 1284734 w 1450181"/>
                  <a:gd name="connsiteY3" fmla="*/ 179834 h 1358106"/>
                  <a:gd name="connsiteX4" fmla="*/ 1284734 w 1450181"/>
                  <a:gd name="connsiteY4" fmla="*/ 916434 h 1358106"/>
                  <a:gd name="connsiteX5" fmla="*/ 1330772 w 1450181"/>
                  <a:gd name="connsiteY5" fmla="*/ 41721 h 1358106"/>
                  <a:gd name="connsiteX6" fmla="*/ 133796 w 1450181"/>
                  <a:gd name="connsiteY6" fmla="*/ 41721 h 1358106"/>
                  <a:gd name="connsiteX7" fmla="*/ 41721 w 1450181"/>
                  <a:gd name="connsiteY7" fmla="*/ 133796 h 1358106"/>
                  <a:gd name="connsiteX8" fmla="*/ 41721 w 1450181"/>
                  <a:gd name="connsiteY8" fmla="*/ 962472 h 1358106"/>
                  <a:gd name="connsiteX9" fmla="*/ 133796 w 1450181"/>
                  <a:gd name="connsiteY9" fmla="*/ 1054547 h 1358106"/>
                  <a:gd name="connsiteX10" fmla="*/ 594172 w 1450181"/>
                  <a:gd name="connsiteY10" fmla="*/ 1054547 h 1358106"/>
                  <a:gd name="connsiteX11" fmla="*/ 594172 w 1450181"/>
                  <a:gd name="connsiteY11" fmla="*/ 1192659 h 1358106"/>
                  <a:gd name="connsiteX12" fmla="*/ 387003 w 1450181"/>
                  <a:gd name="connsiteY12" fmla="*/ 1192659 h 1358106"/>
                  <a:gd name="connsiteX13" fmla="*/ 387003 w 1450181"/>
                  <a:gd name="connsiteY13" fmla="*/ 1330772 h 1358106"/>
                  <a:gd name="connsiteX14" fmla="*/ 1077565 w 1450181"/>
                  <a:gd name="connsiteY14" fmla="*/ 1330772 h 1358106"/>
                  <a:gd name="connsiteX15" fmla="*/ 1077565 w 1450181"/>
                  <a:gd name="connsiteY15" fmla="*/ 1192659 h 1358106"/>
                  <a:gd name="connsiteX16" fmla="*/ 870397 w 1450181"/>
                  <a:gd name="connsiteY16" fmla="*/ 1192659 h 1358106"/>
                  <a:gd name="connsiteX17" fmla="*/ 870397 w 1450181"/>
                  <a:gd name="connsiteY17" fmla="*/ 1054547 h 1358106"/>
                  <a:gd name="connsiteX18" fmla="*/ 1330772 w 1450181"/>
                  <a:gd name="connsiteY18" fmla="*/ 1054547 h 1358106"/>
                  <a:gd name="connsiteX19" fmla="*/ 1422847 w 1450181"/>
                  <a:gd name="connsiteY19" fmla="*/ 962472 h 1358106"/>
                  <a:gd name="connsiteX20" fmla="*/ 1422847 w 1450181"/>
                  <a:gd name="connsiteY20" fmla="*/ 133796 h 1358106"/>
                  <a:gd name="connsiteX21" fmla="*/ 1330772 w 1450181"/>
                  <a:gd name="connsiteY21" fmla="*/ 41721 h 1358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0181" h="1358106">
                    <a:moveTo>
                      <a:pt x="1284734" y="916434"/>
                    </a:moveTo>
                    <a:lnTo>
                      <a:pt x="179834" y="916434"/>
                    </a:lnTo>
                    <a:lnTo>
                      <a:pt x="179834" y="179834"/>
                    </a:lnTo>
                    <a:lnTo>
                      <a:pt x="1284734" y="179834"/>
                    </a:lnTo>
                    <a:lnTo>
                      <a:pt x="1284734" y="916434"/>
                    </a:lnTo>
                    <a:close/>
                    <a:moveTo>
                      <a:pt x="1330772" y="41721"/>
                    </a:moveTo>
                    <a:lnTo>
                      <a:pt x="133796" y="41721"/>
                    </a:lnTo>
                    <a:cubicBezTo>
                      <a:pt x="83155" y="41721"/>
                      <a:pt x="41721" y="83155"/>
                      <a:pt x="41721" y="133796"/>
                    </a:cubicBezTo>
                    <a:lnTo>
                      <a:pt x="41721" y="962472"/>
                    </a:lnTo>
                    <a:cubicBezTo>
                      <a:pt x="41721" y="1013113"/>
                      <a:pt x="83155" y="1054547"/>
                      <a:pt x="133796" y="1054547"/>
                    </a:cubicBezTo>
                    <a:lnTo>
                      <a:pt x="594172" y="1054547"/>
                    </a:lnTo>
                    <a:lnTo>
                      <a:pt x="594172" y="1192659"/>
                    </a:lnTo>
                    <a:lnTo>
                      <a:pt x="387003" y="1192659"/>
                    </a:lnTo>
                    <a:lnTo>
                      <a:pt x="387003" y="1330772"/>
                    </a:lnTo>
                    <a:lnTo>
                      <a:pt x="1077565" y="1330772"/>
                    </a:lnTo>
                    <a:lnTo>
                      <a:pt x="1077565" y="1192659"/>
                    </a:lnTo>
                    <a:lnTo>
                      <a:pt x="870397" y="1192659"/>
                    </a:lnTo>
                    <a:lnTo>
                      <a:pt x="870397" y="1054547"/>
                    </a:lnTo>
                    <a:lnTo>
                      <a:pt x="1330772" y="1054547"/>
                    </a:lnTo>
                    <a:cubicBezTo>
                      <a:pt x="1381413" y="1054547"/>
                      <a:pt x="1422847" y="1013113"/>
                      <a:pt x="1422847" y="962472"/>
                    </a:cubicBezTo>
                    <a:lnTo>
                      <a:pt x="1422847" y="133796"/>
                    </a:lnTo>
                    <a:cubicBezTo>
                      <a:pt x="1422847" y="83155"/>
                      <a:pt x="1381413" y="41721"/>
                      <a:pt x="1330772" y="41721"/>
                    </a:cubicBezTo>
                    <a:close/>
                  </a:path>
                </a:pathLst>
              </a:cu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="" xmlns:a16="http://schemas.microsoft.com/office/drawing/2014/main" id="{32A575B7-7B1B-49E9-A0DA-E7ABD74AA4D7}"/>
                  </a:ext>
                </a:extLst>
              </p:cNvPr>
              <p:cNvSpPr/>
              <p:nvPr/>
            </p:nvSpPr>
            <p:spPr>
              <a:xfrm>
                <a:off x="4906516" y="2592010"/>
                <a:ext cx="713581" cy="1358106"/>
              </a:xfrm>
              <a:custGeom>
                <a:avLst/>
                <a:gdLst>
                  <a:gd name="connsiteX0" fmla="*/ 594172 w 713581"/>
                  <a:gd name="connsiteY0" fmla="*/ 271909 h 1358106"/>
                  <a:gd name="connsiteX1" fmla="*/ 133796 w 713581"/>
                  <a:gd name="connsiteY1" fmla="*/ 271909 h 1358106"/>
                  <a:gd name="connsiteX2" fmla="*/ 133796 w 713581"/>
                  <a:gd name="connsiteY2" fmla="*/ 133796 h 1358106"/>
                  <a:gd name="connsiteX3" fmla="*/ 594172 w 713581"/>
                  <a:gd name="connsiteY3" fmla="*/ 133796 h 1358106"/>
                  <a:gd name="connsiteX4" fmla="*/ 594172 w 713581"/>
                  <a:gd name="connsiteY4" fmla="*/ 271909 h 1358106"/>
                  <a:gd name="connsiteX5" fmla="*/ 594172 w 713581"/>
                  <a:gd name="connsiteY5" fmla="*/ 502097 h 1358106"/>
                  <a:gd name="connsiteX6" fmla="*/ 133796 w 713581"/>
                  <a:gd name="connsiteY6" fmla="*/ 502097 h 1358106"/>
                  <a:gd name="connsiteX7" fmla="*/ 133796 w 713581"/>
                  <a:gd name="connsiteY7" fmla="*/ 363984 h 1358106"/>
                  <a:gd name="connsiteX8" fmla="*/ 594172 w 713581"/>
                  <a:gd name="connsiteY8" fmla="*/ 363984 h 1358106"/>
                  <a:gd name="connsiteX9" fmla="*/ 594172 w 713581"/>
                  <a:gd name="connsiteY9" fmla="*/ 502097 h 1358106"/>
                  <a:gd name="connsiteX10" fmla="*/ 363984 w 713581"/>
                  <a:gd name="connsiteY10" fmla="*/ 1192659 h 1358106"/>
                  <a:gd name="connsiteX11" fmla="*/ 294928 w 713581"/>
                  <a:gd name="connsiteY11" fmla="*/ 1123603 h 1358106"/>
                  <a:gd name="connsiteX12" fmla="*/ 363984 w 713581"/>
                  <a:gd name="connsiteY12" fmla="*/ 1054547 h 1358106"/>
                  <a:gd name="connsiteX13" fmla="*/ 433040 w 713581"/>
                  <a:gd name="connsiteY13" fmla="*/ 1123603 h 1358106"/>
                  <a:gd name="connsiteX14" fmla="*/ 363984 w 713581"/>
                  <a:gd name="connsiteY14" fmla="*/ 1192659 h 1358106"/>
                  <a:gd name="connsiteX15" fmla="*/ 594172 w 713581"/>
                  <a:gd name="connsiteY15" fmla="*/ 41721 h 1358106"/>
                  <a:gd name="connsiteX16" fmla="*/ 133796 w 713581"/>
                  <a:gd name="connsiteY16" fmla="*/ 41721 h 1358106"/>
                  <a:gd name="connsiteX17" fmla="*/ 41721 w 713581"/>
                  <a:gd name="connsiteY17" fmla="*/ 133796 h 1358106"/>
                  <a:gd name="connsiteX18" fmla="*/ 41721 w 713581"/>
                  <a:gd name="connsiteY18" fmla="*/ 1238697 h 1358106"/>
                  <a:gd name="connsiteX19" fmla="*/ 133796 w 713581"/>
                  <a:gd name="connsiteY19" fmla="*/ 1330772 h 1358106"/>
                  <a:gd name="connsiteX20" fmla="*/ 594172 w 713581"/>
                  <a:gd name="connsiteY20" fmla="*/ 1330772 h 1358106"/>
                  <a:gd name="connsiteX21" fmla="*/ 686247 w 713581"/>
                  <a:gd name="connsiteY21" fmla="*/ 1238697 h 1358106"/>
                  <a:gd name="connsiteX22" fmla="*/ 686247 w 713581"/>
                  <a:gd name="connsiteY22" fmla="*/ 133796 h 1358106"/>
                  <a:gd name="connsiteX23" fmla="*/ 594172 w 713581"/>
                  <a:gd name="connsiteY23" fmla="*/ 41721 h 1358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13581" h="1358106">
                    <a:moveTo>
                      <a:pt x="594172" y="271909"/>
                    </a:moveTo>
                    <a:lnTo>
                      <a:pt x="133796" y="271909"/>
                    </a:lnTo>
                    <a:lnTo>
                      <a:pt x="133796" y="133796"/>
                    </a:lnTo>
                    <a:lnTo>
                      <a:pt x="594172" y="133796"/>
                    </a:lnTo>
                    <a:lnTo>
                      <a:pt x="594172" y="271909"/>
                    </a:lnTo>
                    <a:close/>
                    <a:moveTo>
                      <a:pt x="594172" y="502097"/>
                    </a:moveTo>
                    <a:lnTo>
                      <a:pt x="133796" y="502097"/>
                    </a:lnTo>
                    <a:lnTo>
                      <a:pt x="133796" y="363984"/>
                    </a:lnTo>
                    <a:lnTo>
                      <a:pt x="594172" y="363984"/>
                    </a:lnTo>
                    <a:lnTo>
                      <a:pt x="594172" y="502097"/>
                    </a:lnTo>
                    <a:close/>
                    <a:moveTo>
                      <a:pt x="363984" y="1192659"/>
                    </a:moveTo>
                    <a:cubicBezTo>
                      <a:pt x="324852" y="1192659"/>
                      <a:pt x="294928" y="1162735"/>
                      <a:pt x="294928" y="1123603"/>
                    </a:cubicBezTo>
                    <a:cubicBezTo>
                      <a:pt x="294928" y="1084471"/>
                      <a:pt x="324852" y="1054547"/>
                      <a:pt x="363984" y="1054547"/>
                    </a:cubicBezTo>
                    <a:cubicBezTo>
                      <a:pt x="403116" y="1054547"/>
                      <a:pt x="433040" y="1084471"/>
                      <a:pt x="433040" y="1123603"/>
                    </a:cubicBezTo>
                    <a:cubicBezTo>
                      <a:pt x="433040" y="1162735"/>
                      <a:pt x="403116" y="1192659"/>
                      <a:pt x="363984" y="1192659"/>
                    </a:cubicBezTo>
                    <a:close/>
                    <a:moveTo>
                      <a:pt x="594172" y="41721"/>
                    </a:moveTo>
                    <a:lnTo>
                      <a:pt x="133796" y="41721"/>
                    </a:lnTo>
                    <a:cubicBezTo>
                      <a:pt x="83155" y="41721"/>
                      <a:pt x="41721" y="83155"/>
                      <a:pt x="41721" y="133796"/>
                    </a:cubicBezTo>
                    <a:lnTo>
                      <a:pt x="41721" y="1238697"/>
                    </a:lnTo>
                    <a:cubicBezTo>
                      <a:pt x="41721" y="1289338"/>
                      <a:pt x="83155" y="1330772"/>
                      <a:pt x="133796" y="1330772"/>
                    </a:cubicBezTo>
                    <a:lnTo>
                      <a:pt x="594172" y="1330772"/>
                    </a:lnTo>
                    <a:cubicBezTo>
                      <a:pt x="644813" y="1330772"/>
                      <a:pt x="686247" y="1289338"/>
                      <a:pt x="686247" y="1238697"/>
                    </a:cubicBezTo>
                    <a:lnTo>
                      <a:pt x="686247" y="133796"/>
                    </a:lnTo>
                    <a:cubicBezTo>
                      <a:pt x="686247" y="83155"/>
                      <a:pt x="644813" y="41721"/>
                      <a:pt x="594172" y="41721"/>
                    </a:cubicBezTo>
                    <a:close/>
                  </a:path>
                </a:pathLst>
              </a:cu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BF0DE6EF-2B6F-4E87-A8E2-4D4509AC531A}"/>
              </a:ext>
            </a:extLst>
          </p:cNvPr>
          <p:cNvSpPr/>
          <p:nvPr/>
        </p:nvSpPr>
        <p:spPr>
          <a:xfrm flipH="1">
            <a:off x="7918277" y="1584537"/>
            <a:ext cx="722140" cy="1358106"/>
          </a:xfrm>
          <a:custGeom>
            <a:avLst/>
            <a:gdLst>
              <a:gd name="connsiteX0" fmla="*/ 594172 w 713581"/>
              <a:gd name="connsiteY0" fmla="*/ 271909 h 1358106"/>
              <a:gd name="connsiteX1" fmla="*/ 133796 w 713581"/>
              <a:gd name="connsiteY1" fmla="*/ 271909 h 1358106"/>
              <a:gd name="connsiteX2" fmla="*/ 133796 w 713581"/>
              <a:gd name="connsiteY2" fmla="*/ 133796 h 1358106"/>
              <a:gd name="connsiteX3" fmla="*/ 594172 w 713581"/>
              <a:gd name="connsiteY3" fmla="*/ 133796 h 1358106"/>
              <a:gd name="connsiteX4" fmla="*/ 594172 w 713581"/>
              <a:gd name="connsiteY4" fmla="*/ 271909 h 1358106"/>
              <a:gd name="connsiteX5" fmla="*/ 594172 w 713581"/>
              <a:gd name="connsiteY5" fmla="*/ 502097 h 1358106"/>
              <a:gd name="connsiteX6" fmla="*/ 133796 w 713581"/>
              <a:gd name="connsiteY6" fmla="*/ 502097 h 1358106"/>
              <a:gd name="connsiteX7" fmla="*/ 133796 w 713581"/>
              <a:gd name="connsiteY7" fmla="*/ 363984 h 1358106"/>
              <a:gd name="connsiteX8" fmla="*/ 594172 w 713581"/>
              <a:gd name="connsiteY8" fmla="*/ 363984 h 1358106"/>
              <a:gd name="connsiteX9" fmla="*/ 594172 w 713581"/>
              <a:gd name="connsiteY9" fmla="*/ 502097 h 1358106"/>
              <a:gd name="connsiteX10" fmla="*/ 363984 w 713581"/>
              <a:gd name="connsiteY10" fmla="*/ 1192659 h 1358106"/>
              <a:gd name="connsiteX11" fmla="*/ 294928 w 713581"/>
              <a:gd name="connsiteY11" fmla="*/ 1123603 h 1358106"/>
              <a:gd name="connsiteX12" fmla="*/ 363984 w 713581"/>
              <a:gd name="connsiteY12" fmla="*/ 1054547 h 1358106"/>
              <a:gd name="connsiteX13" fmla="*/ 433040 w 713581"/>
              <a:gd name="connsiteY13" fmla="*/ 1123603 h 1358106"/>
              <a:gd name="connsiteX14" fmla="*/ 363984 w 713581"/>
              <a:gd name="connsiteY14" fmla="*/ 1192659 h 1358106"/>
              <a:gd name="connsiteX15" fmla="*/ 594172 w 713581"/>
              <a:gd name="connsiteY15" fmla="*/ 41721 h 1358106"/>
              <a:gd name="connsiteX16" fmla="*/ 133796 w 713581"/>
              <a:gd name="connsiteY16" fmla="*/ 41721 h 1358106"/>
              <a:gd name="connsiteX17" fmla="*/ 41721 w 713581"/>
              <a:gd name="connsiteY17" fmla="*/ 133796 h 1358106"/>
              <a:gd name="connsiteX18" fmla="*/ 41721 w 713581"/>
              <a:gd name="connsiteY18" fmla="*/ 1238697 h 1358106"/>
              <a:gd name="connsiteX19" fmla="*/ 133796 w 713581"/>
              <a:gd name="connsiteY19" fmla="*/ 1330772 h 1358106"/>
              <a:gd name="connsiteX20" fmla="*/ 594172 w 713581"/>
              <a:gd name="connsiteY20" fmla="*/ 1330772 h 1358106"/>
              <a:gd name="connsiteX21" fmla="*/ 686247 w 713581"/>
              <a:gd name="connsiteY21" fmla="*/ 1238697 h 1358106"/>
              <a:gd name="connsiteX22" fmla="*/ 686247 w 713581"/>
              <a:gd name="connsiteY22" fmla="*/ 133796 h 1358106"/>
              <a:gd name="connsiteX23" fmla="*/ 594172 w 713581"/>
              <a:gd name="connsiteY23" fmla="*/ 41721 h 1358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13581" h="1358106">
                <a:moveTo>
                  <a:pt x="594172" y="271909"/>
                </a:moveTo>
                <a:lnTo>
                  <a:pt x="133796" y="271909"/>
                </a:lnTo>
                <a:lnTo>
                  <a:pt x="133796" y="133796"/>
                </a:lnTo>
                <a:lnTo>
                  <a:pt x="594172" y="133796"/>
                </a:lnTo>
                <a:lnTo>
                  <a:pt x="594172" y="271909"/>
                </a:lnTo>
                <a:close/>
                <a:moveTo>
                  <a:pt x="594172" y="502097"/>
                </a:moveTo>
                <a:lnTo>
                  <a:pt x="133796" y="502097"/>
                </a:lnTo>
                <a:lnTo>
                  <a:pt x="133796" y="363984"/>
                </a:lnTo>
                <a:lnTo>
                  <a:pt x="594172" y="363984"/>
                </a:lnTo>
                <a:lnTo>
                  <a:pt x="594172" y="502097"/>
                </a:lnTo>
                <a:close/>
                <a:moveTo>
                  <a:pt x="363984" y="1192659"/>
                </a:moveTo>
                <a:cubicBezTo>
                  <a:pt x="324852" y="1192659"/>
                  <a:pt x="294928" y="1162735"/>
                  <a:pt x="294928" y="1123603"/>
                </a:cubicBezTo>
                <a:cubicBezTo>
                  <a:pt x="294928" y="1084471"/>
                  <a:pt x="324852" y="1054547"/>
                  <a:pt x="363984" y="1054547"/>
                </a:cubicBezTo>
                <a:cubicBezTo>
                  <a:pt x="403116" y="1054547"/>
                  <a:pt x="433040" y="1084471"/>
                  <a:pt x="433040" y="1123603"/>
                </a:cubicBezTo>
                <a:cubicBezTo>
                  <a:pt x="433040" y="1162735"/>
                  <a:pt x="403116" y="1192659"/>
                  <a:pt x="363984" y="1192659"/>
                </a:cubicBezTo>
                <a:close/>
                <a:moveTo>
                  <a:pt x="594172" y="41721"/>
                </a:moveTo>
                <a:lnTo>
                  <a:pt x="133796" y="41721"/>
                </a:lnTo>
                <a:cubicBezTo>
                  <a:pt x="83155" y="41721"/>
                  <a:pt x="41721" y="83155"/>
                  <a:pt x="41721" y="133796"/>
                </a:cubicBezTo>
                <a:lnTo>
                  <a:pt x="41721" y="1238697"/>
                </a:lnTo>
                <a:cubicBezTo>
                  <a:pt x="41721" y="1289338"/>
                  <a:pt x="83155" y="1330772"/>
                  <a:pt x="133796" y="1330772"/>
                </a:cubicBezTo>
                <a:lnTo>
                  <a:pt x="594172" y="1330772"/>
                </a:lnTo>
                <a:cubicBezTo>
                  <a:pt x="644813" y="1330772"/>
                  <a:pt x="686247" y="1289338"/>
                  <a:pt x="686247" y="1238697"/>
                </a:cubicBezTo>
                <a:lnTo>
                  <a:pt x="686247" y="133796"/>
                </a:lnTo>
                <a:cubicBezTo>
                  <a:pt x="686247" y="83155"/>
                  <a:pt x="644813" y="41721"/>
                  <a:pt x="594172" y="41721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05102172-D590-495D-A047-AD976D031D77}"/>
              </a:ext>
            </a:extLst>
          </p:cNvPr>
          <p:cNvSpPr txBox="1"/>
          <p:nvPr/>
        </p:nvSpPr>
        <p:spPr>
          <a:xfrm>
            <a:off x="1592622" y="2910100"/>
            <a:ext cx="221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3B15DDBD-CEE4-4C4A-BB23-C215BDB753BC}"/>
              </a:ext>
            </a:extLst>
          </p:cNvPr>
          <p:cNvSpPr txBox="1"/>
          <p:nvPr/>
        </p:nvSpPr>
        <p:spPr>
          <a:xfrm>
            <a:off x="7845392" y="2910100"/>
            <a:ext cx="86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="" xmlns:a16="http://schemas.microsoft.com/office/drawing/2014/main" id="{A2337B0C-DC15-41C2-B2C2-40B9FEC6D3CC}"/>
              </a:ext>
            </a:extLst>
          </p:cNvPr>
          <p:cNvCxnSpPr>
            <a:stCxn id="31" idx="2"/>
          </p:cNvCxnSpPr>
          <p:nvPr/>
        </p:nvCxnSpPr>
        <p:spPr>
          <a:xfrm>
            <a:off x="2699126" y="3279432"/>
            <a:ext cx="14257" cy="317106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="" xmlns:a16="http://schemas.microsoft.com/office/drawing/2014/main" id="{8D63B94F-3D1E-4DDD-B741-12146A70DFB5}"/>
              </a:ext>
            </a:extLst>
          </p:cNvPr>
          <p:cNvCxnSpPr/>
          <p:nvPr/>
        </p:nvCxnSpPr>
        <p:spPr>
          <a:xfrm>
            <a:off x="8265090" y="3279432"/>
            <a:ext cx="14257" cy="317106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="" xmlns:a16="http://schemas.microsoft.com/office/drawing/2014/main" id="{E7CB7899-5BA1-495B-A7BF-B68C2A754A61}"/>
              </a:ext>
            </a:extLst>
          </p:cNvPr>
          <p:cNvCxnSpPr>
            <a:cxnSpLocks/>
          </p:cNvCxnSpPr>
          <p:nvPr/>
        </p:nvCxnSpPr>
        <p:spPr>
          <a:xfrm>
            <a:off x="2832653" y="3429000"/>
            <a:ext cx="5307495" cy="1789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="" xmlns:a16="http://schemas.microsoft.com/office/drawing/2014/main" id="{21D9C4FB-A5AB-4A1E-A337-B965DBF55054}"/>
              </a:ext>
            </a:extLst>
          </p:cNvPr>
          <p:cNvSpPr txBox="1">
            <a:spLocks/>
          </p:cNvSpPr>
          <p:nvPr/>
        </p:nvSpPr>
        <p:spPr>
          <a:xfrm>
            <a:off x="3373278" y="2806562"/>
            <a:ext cx="3200330" cy="8125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GET</a:t>
            </a:r>
            <a:r>
              <a:rPr lang="en-US" sz="1600" dirty="0"/>
              <a:t> </a:t>
            </a:r>
            <a:r>
              <a:rPr lang="en-US" sz="1600" dirty="0" smtClean="0"/>
              <a:t>:   Method </a:t>
            </a:r>
            <a:br>
              <a:rPr lang="en-US" sz="1600" dirty="0" smtClean="0"/>
            </a:br>
            <a:r>
              <a:rPr lang="en-US" sz="1600" dirty="0" smtClean="0"/>
              <a:t>URL :   /the-resource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="" xmlns:a16="http://schemas.microsoft.com/office/drawing/2014/main" id="{7B0D58F0-4A74-4F6B-8109-F0F2D0BB5343}"/>
              </a:ext>
            </a:extLst>
          </p:cNvPr>
          <p:cNvCxnSpPr>
            <a:cxnSpLocks/>
          </p:cNvCxnSpPr>
          <p:nvPr/>
        </p:nvCxnSpPr>
        <p:spPr>
          <a:xfrm flipH="1">
            <a:off x="2863103" y="3722038"/>
            <a:ext cx="5307494" cy="794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="" xmlns:a16="http://schemas.microsoft.com/office/drawing/2014/main" id="{3374E6D5-48B6-4116-866A-D12E2184B7C2}"/>
              </a:ext>
            </a:extLst>
          </p:cNvPr>
          <p:cNvSpPr txBox="1">
            <a:spLocks/>
          </p:cNvSpPr>
          <p:nvPr/>
        </p:nvSpPr>
        <p:spPr>
          <a:xfrm>
            <a:off x="5430982" y="3731925"/>
            <a:ext cx="2896482" cy="7745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200</a:t>
            </a:r>
            <a:r>
              <a:rPr lang="en-US" sz="2000" dirty="0"/>
              <a:t> 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&lt;html&gt;Code...&lt;/html&gt;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="" xmlns:a16="http://schemas.microsoft.com/office/drawing/2014/main" id="{54F1E9C1-C4E0-4F7F-83FA-E48726584C94}"/>
              </a:ext>
            </a:extLst>
          </p:cNvPr>
          <p:cNvCxnSpPr/>
          <p:nvPr/>
        </p:nvCxnSpPr>
        <p:spPr>
          <a:xfrm>
            <a:off x="2604052" y="4005471"/>
            <a:ext cx="0" cy="77004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="" xmlns:a16="http://schemas.microsoft.com/office/drawing/2014/main" id="{79D7172B-8C4F-4595-A8CA-73E1F847E623}"/>
              </a:ext>
            </a:extLst>
          </p:cNvPr>
          <p:cNvSpPr txBox="1">
            <a:spLocks/>
          </p:cNvSpPr>
          <p:nvPr/>
        </p:nvSpPr>
        <p:spPr>
          <a:xfrm>
            <a:off x="415657" y="3947728"/>
            <a:ext cx="2276340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Displays the page, then user clicks</a:t>
            </a:r>
            <a:br>
              <a:rPr lang="en-US" sz="2000" dirty="0"/>
            </a:br>
            <a:r>
              <a:rPr lang="en-US" sz="2000" dirty="0"/>
              <a:t>on link.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="" xmlns:a16="http://schemas.microsoft.com/office/drawing/2014/main" id="{9234B9CA-4736-47EA-A2D9-2E4CD6D8EC98}"/>
              </a:ext>
            </a:extLst>
          </p:cNvPr>
          <p:cNvCxnSpPr>
            <a:cxnSpLocks/>
          </p:cNvCxnSpPr>
          <p:nvPr/>
        </p:nvCxnSpPr>
        <p:spPr>
          <a:xfrm>
            <a:off x="2895124" y="4928292"/>
            <a:ext cx="5307495" cy="17890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ontent Placeholder 2">
            <a:extLst>
              <a:ext uri="{FF2B5EF4-FFF2-40B4-BE49-F238E27FC236}">
                <a16:creationId xmlns="" xmlns:a16="http://schemas.microsoft.com/office/drawing/2014/main" id="{A48FFEB0-4AF2-432A-853A-1B41E0C3AD95}"/>
              </a:ext>
            </a:extLst>
          </p:cNvPr>
          <p:cNvSpPr txBox="1">
            <a:spLocks/>
          </p:cNvSpPr>
          <p:nvPr/>
        </p:nvSpPr>
        <p:spPr>
          <a:xfrm>
            <a:off x="2787371" y="4314178"/>
            <a:ext cx="2897811" cy="8125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GET</a:t>
            </a:r>
            <a:r>
              <a:rPr lang="en-US" sz="1600" dirty="0"/>
              <a:t> </a:t>
            </a:r>
            <a:r>
              <a:rPr lang="en-US" sz="1600" dirty="0" smtClean="0"/>
              <a:t>:Method</a:t>
            </a:r>
            <a:br>
              <a:rPr lang="en-US" sz="1600" dirty="0" smtClean="0"/>
            </a:br>
            <a:r>
              <a:rPr lang="en-US" sz="1600" dirty="0" smtClean="0"/>
              <a:t>URL: /another-resource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12333098-F3C9-461B-8C00-718CA57A586B}"/>
              </a:ext>
            </a:extLst>
          </p:cNvPr>
          <p:cNvCxnSpPr>
            <a:cxnSpLocks/>
          </p:cNvCxnSpPr>
          <p:nvPr/>
        </p:nvCxnSpPr>
        <p:spPr>
          <a:xfrm flipH="1">
            <a:off x="2878664" y="5287310"/>
            <a:ext cx="5307494" cy="794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="" xmlns:a16="http://schemas.microsoft.com/office/drawing/2014/main" id="{8C6D1499-45BA-40A9-B23B-B1BF55F99977}"/>
              </a:ext>
            </a:extLst>
          </p:cNvPr>
          <p:cNvSpPr txBox="1">
            <a:spLocks/>
          </p:cNvSpPr>
          <p:nvPr/>
        </p:nvSpPr>
        <p:spPr>
          <a:xfrm>
            <a:off x="5516850" y="5366724"/>
            <a:ext cx="2801378" cy="7745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200</a:t>
            </a:r>
            <a:r>
              <a:rPr lang="en-US" sz="2000" dirty="0"/>
              <a:t> 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&lt;html&gt;Code...&lt;/html&gt;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="" xmlns:a16="http://schemas.microsoft.com/office/drawing/2014/main" id="{55664A78-1EA8-4A53-801B-293D9843FDAF}"/>
              </a:ext>
            </a:extLst>
          </p:cNvPr>
          <p:cNvCxnSpPr/>
          <p:nvPr/>
        </p:nvCxnSpPr>
        <p:spPr>
          <a:xfrm>
            <a:off x="2611181" y="5553674"/>
            <a:ext cx="0" cy="77004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Content Placeholder 2">
            <a:extLst>
              <a:ext uri="{FF2B5EF4-FFF2-40B4-BE49-F238E27FC236}">
                <a16:creationId xmlns="" xmlns:a16="http://schemas.microsoft.com/office/drawing/2014/main" id="{DE332ED9-207C-4741-8DD0-628CBFB097A5}"/>
              </a:ext>
            </a:extLst>
          </p:cNvPr>
          <p:cNvSpPr txBox="1">
            <a:spLocks/>
          </p:cNvSpPr>
          <p:nvPr/>
        </p:nvSpPr>
        <p:spPr>
          <a:xfrm>
            <a:off x="422786" y="5495931"/>
            <a:ext cx="2276340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Displays the other page, ...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62" y="6341312"/>
            <a:ext cx="2248609" cy="400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1276092" y="2974295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(</a:t>
            </a:r>
            <a:r>
              <a:rPr lang="en-IN" b="1" dirty="0" smtClean="0">
                <a:solidFill>
                  <a:schemeClr val="accent2"/>
                </a:solidFill>
              </a:rPr>
              <a:t>1)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8389545" y="4005471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2"/>
                </a:solidFill>
              </a:rPr>
              <a:t>(2)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 flipH="1">
            <a:off x="1982304" y="4766413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2"/>
                </a:solidFill>
              </a:rPr>
              <a:t>(3)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 flipH="1">
            <a:off x="8223734" y="5232535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2"/>
                </a:solidFill>
              </a:rPr>
              <a:t>(4)</a:t>
            </a:r>
            <a:endParaRPr lang="en-IN" b="1" dirty="0">
              <a:solidFill>
                <a:schemeClr val="accent2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/>
      <p:bldP spid="32" grpId="0"/>
      <p:bldP spid="42" grpId="0"/>
      <p:bldP spid="46" grpId="0"/>
      <p:bldP spid="49" grpId="0"/>
      <p:bldP spid="51" grpId="0"/>
      <p:bldP spid="53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577"/>
            <a:ext cx="10515600" cy="956396"/>
          </a:xfrm>
        </p:spPr>
        <p:txBody>
          <a:bodyPr/>
          <a:lstStyle/>
          <a:p>
            <a:r>
              <a:rPr lang="en-US" dirty="0"/>
              <a:t>Traditional web applications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="" xmlns:a16="http://schemas.microsoft.com/office/drawing/2014/main" id="{90BF46C0-69BC-4E12-AEAC-203149C3A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477"/>
            <a:ext cx="10515600" cy="1392689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The interface is built on HTML &amp; HTTP.</a:t>
            </a:r>
          </a:p>
          <a:p>
            <a:r>
              <a:rPr lang="en-US" dirty="0"/>
              <a:t>Drawbacks:</a:t>
            </a:r>
          </a:p>
          <a:p>
            <a:pPr lvl="1"/>
            <a:r>
              <a:rPr lang="en-US" dirty="0"/>
              <a:t>The client must understand both HTTP and </a:t>
            </a:r>
            <a:r>
              <a:rPr lang="en-US" dirty="0" smtClean="0"/>
              <a:t>HTML.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B31DDA90-BF4C-467B-9ACC-AB77A19CA5FB}"/>
              </a:ext>
            </a:extLst>
          </p:cNvPr>
          <p:cNvSpPr txBox="1">
            <a:spLocks/>
          </p:cNvSpPr>
          <p:nvPr/>
        </p:nvSpPr>
        <p:spPr>
          <a:xfrm>
            <a:off x="838200" y="3502699"/>
            <a:ext cx="10515600" cy="12731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 &amp; HTML can be </a:t>
            </a:r>
            <a:r>
              <a:rPr lang="en-US" dirty="0" smtClean="0"/>
              <a:t>used.</a:t>
            </a:r>
            <a:endParaRPr lang="en-US" dirty="0"/>
          </a:p>
          <a:p>
            <a:pPr lvl="1"/>
            <a:r>
              <a:rPr lang="en-US" dirty="0"/>
              <a:t>The GUI on smartphones does not use HTML.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32" y="4859335"/>
            <a:ext cx="6693868" cy="1616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157" y="5982418"/>
            <a:ext cx="2473085" cy="6792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4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76" y="582928"/>
            <a:ext cx="11501792" cy="658720"/>
          </a:xfrm>
        </p:spPr>
        <p:txBody>
          <a:bodyPr>
            <a:normAutofit fontScale="90000"/>
          </a:bodyPr>
          <a:lstStyle/>
          <a:p>
            <a:r>
              <a:rPr lang="en-US" dirty="0"/>
              <a:t>A</a:t>
            </a:r>
            <a:r>
              <a:rPr lang="en-US" sz="3600" dirty="0"/>
              <a:t>pplication</a:t>
            </a:r>
            <a:r>
              <a:rPr lang="en-US" dirty="0"/>
              <a:t> p</a:t>
            </a:r>
            <a:r>
              <a:rPr lang="en-US" sz="3600" dirty="0"/>
              <a:t>rogramming</a:t>
            </a:r>
            <a:r>
              <a:rPr lang="en-US" dirty="0"/>
              <a:t> i</a:t>
            </a:r>
            <a:r>
              <a:rPr lang="en-US" sz="3600" dirty="0"/>
              <a:t>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429176" y="1900367"/>
            <a:ext cx="5666824" cy="2751522"/>
          </a:xfrm>
        </p:spPr>
        <p:txBody>
          <a:bodyPr wrap="square">
            <a:spAutoFit/>
          </a:bodyPr>
          <a:lstStyle/>
          <a:p>
            <a:r>
              <a:rPr lang="en-US" dirty="0"/>
              <a:t>API stands for the Application Programming Interface, They are basically a collection of functions and procedures which allows us to communicate two application or library. For example, It like a connector as seen in the picture. All data connects to our organization through API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177" y="1689045"/>
            <a:ext cx="5578791" cy="34214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935" y="6250883"/>
            <a:ext cx="2395033" cy="5320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0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0" y="1316183"/>
            <a:ext cx="11741041" cy="53617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590" y="665018"/>
            <a:ext cx="1176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 one line, API is its an interface between different software programs or service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9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788" y="498620"/>
            <a:ext cx="10855667" cy="568180"/>
          </a:xfrm>
        </p:spPr>
        <p:txBody>
          <a:bodyPr>
            <a:noAutofit/>
          </a:bodyPr>
          <a:lstStyle/>
          <a:p>
            <a:r>
              <a:rPr lang="en-IN" sz="3600" dirty="0" smtClean="0"/>
              <a:t>What is REST API ?</a:t>
            </a:r>
            <a:endParaRPr lang="en-IN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54182" y="1288472"/>
            <a:ext cx="111944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 smtClean="0">
                <a:solidFill>
                  <a:schemeClr val="bg1"/>
                </a:solidFill>
              </a:rPr>
              <a:t>REST </a:t>
            </a:r>
            <a:r>
              <a:rPr lang="en-US" sz="2000" dirty="0">
                <a:solidFill>
                  <a:schemeClr val="bg1"/>
                </a:solidFill>
              </a:rPr>
              <a:t>is a software architectural style that defines the set of rules to be used for creating web services. </a:t>
            </a:r>
            <a:endParaRPr lang="en-US" sz="2000" dirty="0" smtClean="0">
              <a:solidFill>
                <a:schemeClr val="bg1"/>
              </a:solidFill>
            </a:endParaRPr>
          </a:p>
          <a:p>
            <a:pPr fontAlgn="base"/>
            <a:endParaRPr lang="en-US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REST acronym.</a:t>
            </a:r>
          </a:p>
          <a:p>
            <a:r>
              <a:rPr lang="en-IN" sz="2000" dirty="0">
                <a:solidFill>
                  <a:schemeClr val="bg1"/>
                </a:solidFill>
              </a:rPr>
              <a:t> - </a:t>
            </a:r>
            <a:r>
              <a:rPr lang="en-IN" sz="2000" b="1" dirty="0" err="1">
                <a:solidFill>
                  <a:srgbClr val="92D050"/>
                </a:solidFill>
              </a:rPr>
              <a:t>REpresentational</a:t>
            </a:r>
            <a:r>
              <a:rPr lang="en-IN" sz="2000" dirty="0">
                <a:solidFill>
                  <a:schemeClr val="bg1"/>
                </a:solidFill>
              </a:rPr>
              <a:t> means formats (such as XML, JSON, YAML, HTML, etc.)</a:t>
            </a:r>
          </a:p>
          <a:p>
            <a:r>
              <a:rPr lang="en-IN" sz="2000" dirty="0">
                <a:solidFill>
                  <a:schemeClr val="bg1"/>
                </a:solidFill>
              </a:rPr>
              <a:t> - </a:t>
            </a:r>
            <a:r>
              <a:rPr lang="en-IN" sz="2000" b="1" dirty="0">
                <a:solidFill>
                  <a:srgbClr val="92D050"/>
                </a:solidFill>
              </a:rPr>
              <a:t>State</a:t>
            </a:r>
            <a:r>
              <a:rPr lang="en-IN" sz="2000" dirty="0">
                <a:solidFill>
                  <a:schemeClr val="bg1"/>
                </a:solidFill>
              </a:rPr>
              <a:t> means 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 - </a:t>
            </a:r>
            <a:r>
              <a:rPr lang="en-IN" sz="2000" b="1" dirty="0">
                <a:solidFill>
                  <a:srgbClr val="92D050"/>
                </a:solidFill>
              </a:rPr>
              <a:t>Transfer</a:t>
            </a:r>
            <a:r>
              <a:rPr lang="en-IN" sz="2000" dirty="0">
                <a:solidFill>
                  <a:schemeClr val="bg1"/>
                </a:solidFill>
              </a:rPr>
              <a:t> means carrying data between consumer and provider using the HTTP protocol</a:t>
            </a:r>
          </a:p>
          <a:p>
            <a:pPr fontAlgn="base"/>
            <a:endParaRPr lang="en-US" sz="2000" dirty="0" smtClean="0">
              <a:solidFill>
                <a:schemeClr val="bg1"/>
              </a:solidFill>
            </a:endParaRPr>
          </a:p>
          <a:p>
            <a:pPr fontAlgn="base"/>
            <a:r>
              <a:rPr lang="en-US" sz="2000" dirty="0" smtClean="0">
                <a:solidFill>
                  <a:schemeClr val="bg1"/>
                </a:solidFill>
              </a:rPr>
              <a:t>It </a:t>
            </a:r>
            <a:r>
              <a:rPr lang="en-US" sz="2000" dirty="0">
                <a:solidFill>
                  <a:schemeClr val="bg1"/>
                </a:solidFill>
              </a:rPr>
              <a:t>allows requesting systems to access and manipulate web resources by using a uniform and predefined set of rules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  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0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243" y="1385311"/>
            <a:ext cx="4579557" cy="47383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a scenario where you are using the </a:t>
            </a:r>
            <a:r>
              <a:rPr lang="en-US" b="1" dirty="0">
                <a:solidFill>
                  <a:srgbClr val="FFC000"/>
                </a:solidFill>
              </a:rPr>
              <a:t>Book My Show </a:t>
            </a:r>
            <a:r>
              <a:rPr lang="en-US" dirty="0"/>
              <a:t>app. Now, obviously, this application needs a lot of Input data, as the data present in the application is never </a:t>
            </a:r>
            <a:r>
              <a:rPr lang="en-US" dirty="0" smtClean="0"/>
              <a:t>static that means </a:t>
            </a:r>
            <a:r>
              <a:rPr lang="en-US" dirty="0"/>
              <a:t>data is always changing in these applications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endParaRPr lang="en-IN" dirty="0"/>
          </a:p>
          <a:p>
            <a:r>
              <a:rPr lang="en-US" dirty="0" smtClean="0"/>
              <a:t>Either </a:t>
            </a:r>
            <a:r>
              <a:rPr lang="en-US" dirty="0"/>
              <a:t>it is movies getting released on </a:t>
            </a:r>
            <a:r>
              <a:rPr lang="en-US" dirty="0" smtClean="0"/>
              <a:t>dates, </a:t>
            </a:r>
            <a:r>
              <a:rPr lang="en-US" dirty="0"/>
              <a:t>or various cities showing different languages movies at various times of the day. It’s never static </a:t>
            </a:r>
            <a:endParaRPr lang="en-IN" dirty="0"/>
          </a:p>
        </p:txBody>
      </p:sp>
      <p:sp>
        <p:nvSpPr>
          <p:cNvPr id="4" name="Title 3"/>
          <p:cNvSpPr txBox="1">
            <a:spLocks noGrp="1"/>
          </p:cNvSpPr>
          <p:nvPr>
            <p:ph type="ctrTitle"/>
          </p:nvPr>
        </p:nvSpPr>
        <p:spPr>
          <a:xfrm>
            <a:off x="408079" y="508377"/>
            <a:ext cx="11501792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 smtClean="0">
                <a:solidFill>
                  <a:schemeClr val="bg1"/>
                </a:solidFill>
              </a:rPr>
              <a:t>Why you need REST API?</a:t>
            </a:r>
            <a:endParaRPr lang="en-IN" sz="44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49" y="1487825"/>
            <a:ext cx="7077484" cy="37353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2660" y="761855"/>
            <a:ext cx="6352939" cy="2736407"/>
          </a:xfrm>
        </p:spPr>
        <p:txBody>
          <a:bodyPr>
            <a:normAutofit/>
          </a:bodyPr>
          <a:lstStyle/>
          <a:p>
            <a:r>
              <a:rPr lang="en-US" dirty="0"/>
              <a:t>Over here, the response sent to the client is in the form of an HTML Web Page.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But</a:t>
            </a:r>
            <a:r>
              <a:rPr lang="en-US" b="1" dirty="0">
                <a:solidFill>
                  <a:srgbClr val="FFC000"/>
                </a:solidFill>
              </a:rPr>
              <a:t>, do you think this is </a:t>
            </a:r>
            <a:r>
              <a:rPr lang="en-US" b="1" dirty="0" smtClean="0">
                <a:solidFill>
                  <a:srgbClr val="FFC000"/>
                </a:solidFill>
              </a:rPr>
              <a:t>the </a:t>
            </a:r>
            <a:r>
              <a:rPr lang="en-US" b="1" dirty="0">
                <a:solidFill>
                  <a:srgbClr val="FFC000"/>
                </a:solidFill>
              </a:rPr>
              <a:t>response that you would expect when you send a request?</a:t>
            </a:r>
            <a:endParaRPr lang="en-IN" b="1" dirty="0">
              <a:solidFill>
                <a:srgbClr val="FFC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41" y="623309"/>
            <a:ext cx="4645712" cy="2258437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352659" y="3366510"/>
            <a:ext cx="5604795" cy="2964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 smtClean="0">
              <a:solidFill>
                <a:srgbClr val="FFC000"/>
              </a:solidFill>
            </a:endParaRPr>
          </a:p>
          <a:p>
            <a:r>
              <a:rPr lang="en-US" sz="3200" b="1" dirty="0" smtClean="0">
                <a:solidFill>
                  <a:srgbClr val="FFC000"/>
                </a:solidFill>
              </a:rPr>
              <a:t>Well</a:t>
            </a:r>
            <a:r>
              <a:rPr lang="en-US" sz="3200" b="1" dirty="0">
                <a:solidFill>
                  <a:srgbClr val="FFC000"/>
                </a:solidFill>
              </a:rPr>
              <a:t>, </a:t>
            </a:r>
            <a:r>
              <a:rPr lang="en-US" sz="3200" b="1" dirty="0" smtClean="0">
                <a:solidFill>
                  <a:srgbClr val="FFC000"/>
                </a:solidFill>
              </a:rPr>
              <a:t>NO</a:t>
            </a:r>
            <a:r>
              <a:rPr lang="en-US" sz="3200" b="1" dirty="0">
                <a:solidFill>
                  <a:srgbClr val="FFC000"/>
                </a:solidFill>
              </a:rPr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Since</a:t>
            </a:r>
            <a:r>
              <a:rPr lang="en-US" dirty="0"/>
              <a:t>,  you would prefer the data returned by the server, in response to the request of the client is either in the format of JSON or </a:t>
            </a:r>
            <a:r>
              <a:rPr lang="en-US" dirty="0" smtClean="0"/>
              <a:t>XML</a:t>
            </a:r>
            <a:r>
              <a:rPr lang="en-IN" dirty="0" smtClean="0"/>
              <a:t> </a:t>
            </a:r>
            <a:r>
              <a:rPr lang="en-US" dirty="0" smtClean="0"/>
              <a:t>rather </a:t>
            </a:r>
            <a:r>
              <a:rPr lang="en-US" dirty="0"/>
              <a:t>than </a:t>
            </a:r>
            <a:r>
              <a:rPr lang="en-US" dirty="0" smtClean="0"/>
              <a:t>the HTML </a:t>
            </a:r>
            <a:r>
              <a:rPr lang="en-US" dirty="0"/>
              <a:t>page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295" y="3323555"/>
            <a:ext cx="5581058" cy="29646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4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tAssured#2 - Introduction to REST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57" y="2312266"/>
            <a:ext cx="11433443" cy="432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4957" y="585373"/>
            <a:ext cx="115376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- Well</a:t>
            </a:r>
            <a:r>
              <a:rPr lang="en-US" sz="2400" dirty="0">
                <a:solidFill>
                  <a:schemeClr val="bg1"/>
                </a:solidFill>
              </a:rPr>
              <a:t>, this data is received from the Server or most commonly known as a </a:t>
            </a:r>
            <a:r>
              <a:rPr lang="en-US" sz="2400" dirty="0" smtClean="0">
                <a:solidFill>
                  <a:schemeClr val="bg1"/>
                </a:solidFill>
              </a:rPr>
              <a:t>Web-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   server</a:t>
            </a:r>
            <a:r>
              <a:rPr lang="en-US" sz="2400" dirty="0">
                <a:solidFill>
                  <a:schemeClr val="bg1"/>
                </a:solidFill>
              </a:rPr>
              <a:t>. </a:t>
            </a:r>
            <a:r>
              <a:rPr lang="en-US" sz="2400" dirty="0" smtClean="0">
                <a:solidFill>
                  <a:schemeClr val="bg1"/>
                </a:solidFill>
              </a:rPr>
              <a:t/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- The </a:t>
            </a:r>
            <a:r>
              <a:rPr lang="en-US" sz="2400" dirty="0">
                <a:solidFill>
                  <a:schemeClr val="bg1"/>
                </a:solidFill>
              </a:rPr>
              <a:t>client requests the server for the required information, via an API, and then, </a:t>
            </a:r>
            <a:r>
              <a:rPr lang="en-US" sz="2400" dirty="0" smtClean="0">
                <a:solidFill>
                  <a:schemeClr val="bg1"/>
                </a:solidFill>
              </a:rPr>
              <a:t/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dirty="0" smtClean="0">
                <a:solidFill>
                  <a:schemeClr val="bg1"/>
                </a:solidFill>
              </a:rPr>
              <a:t>   the </a:t>
            </a:r>
            <a:r>
              <a:rPr lang="en-US" sz="2400" dirty="0">
                <a:solidFill>
                  <a:schemeClr val="bg1"/>
                </a:solidFill>
              </a:rPr>
              <a:t>server sends a </a:t>
            </a:r>
            <a:r>
              <a:rPr lang="en-US" sz="2400" dirty="0" smtClean="0">
                <a:solidFill>
                  <a:schemeClr val="bg1"/>
                </a:solidFill>
              </a:rPr>
              <a:t>response </a:t>
            </a:r>
            <a:r>
              <a:rPr lang="en-US" sz="2400" dirty="0">
                <a:solidFill>
                  <a:schemeClr val="bg1"/>
                </a:solidFill>
              </a:rPr>
              <a:t>to the </a:t>
            </a:r>
            <a:r>
              <a:rPr lang="en-US" sz="2400" dirty="0" smtClean="0">
                <a:solidFill>
                  <a:schemeClr val="bg1"/>
                </a:solidFill>
              </a:rPr>
              <a:t>client in </a:t>
            </a:r>
            <a:r>
              <a:rPr lang="en-US" sz="2400" dirty="0">
                <a:solidFill>
                  <a:schemeClr val="bg1"/>
                </a:solidFill>
              </a:rPr>
              <a:t>the format of JSON or XML.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44252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2"/>
                </a:solidFill>
              </a:rPr>
              <a:t>(1)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42421" y="3938336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2"/>
                </a:solidFill>
              </a:rPr>
              <a:t>(2)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4526" y="4495799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solidFill>
                  <a:schemeClr val="accent2"/>
                </a:solidFill>
              </a:rPr>
              <a:t>(3)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8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643" y="651309"/>
            <a:ext cx="11501792" cy="817273"/>
          </a:xfrm>
        </p:spPr>
        <p:txBody>
          <a:bodyPr>
            <a:noAutofit/>
          </a:bodyPr>
          <a:lstStyle/>
          <a:p>
            <a:r>
              <a:rPr lang="en-US" sz="2800" dirty="0"/>
              <a:t> </a:t>
            </a:r>
            <a:r>
              <a:rPr lang="en-US" sz="2800" b="1" dirty="0">
                <a:hlinkClick r:id="rId2"/>
              </a:rPr>
              <a:t>CRUD</a:t>
            </a:r>
            <a:r>
              <a:rPr lang="en-US" sz="2800" dirty="0"/>
              <a:t> stands for </a:t>
            </a:r>
            <a:r>
              <a:rPr lang="en-US" sz="2800" b="1" dirty="0"/>
              <a:t>C</a:t>
            </a:r>
            <a:r>
              <a:rPr lang="en-US" sz="2800" dirty="0"/>
              <a:t>reate, </a:t>
            </a:r>
            <a:r>
              <a:rPr lang="en-US" sz="2800" b="1" dirty="0"/>
              <a:t>R</a:t>
            </a:r>
            <a:r>
              <a:rPr lang="en-US" sz="2800" dirty="0"/>
              <a:t>ead, </a:t>
            </a:r>
            <a:r>
              <a:rPr lang="en-US" sz="2800" b="1" dirty="0"/>
              <a:t>U</a:t>
            </a:r>
            <a:r>
              <a:rPr lang="en-US" sz="2800" dirty="0"/>
              <a:t>pdate, and </a:t>
            </a:r>
            <a:r>
              <a:rPr lang="en-US" sz="2800" b="1" dirty="0"/>
              <a:t>D</a:t>
            </a:r>
            <a:r>
              <a:rPr lang="en-US" sz="2800" dirty="0"/>
              <a:t>elete, which make up these four fundamental operations.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41" y="1692619"/>
            <a:ext cx="11076796" cy="49639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748" y="2023602"/>
            <a:ext cx="1162212" cy="4001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T API Benefits | Zestard Technolog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10" y="491835"/>
            <a:ext cx="11775373" cy="614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063" y="2727157"/>
            <a:ext cx="8830284" cy="10427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748" y="1657808"/>
            <a:ext cx="8706162" cy="10693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4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 smtClean="0">
                <a:solidFill>
                  <a:srgbClr val="FFB500"/>
                </a:solidFill>
              </a:rPr>
              <a:t>HTTP GET Method</a:t>
            </a:r>
            <a:endParaRPr lang="en-IN" dirty="0">
              <a:solidFill>
                <a:srgbClr val="FFB500"/>
              </a:solidFill>
            </a:endParaRPr>
          </a:p>
        </p:txBody>
      </p:sp>
      <p:pic>
        <p:nvPicPr>
          <p:cNvPr id="4098" name="Picture 2" descr="How to send a request with Postman | MAKOLY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40" y="2881746"/>
            <a:ext cx="7251603" cy="381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39" y="678729"/>
            <a:ext cx="7251603" cy="20025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891" y="1426058"/>
            <a:ext cx="3837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GET is used to request data from a specified resource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GET </a:t>
            </a:r>
            <a:r>
              <a:rPr lang="en-US" dirty="0">
                <a:solidFill>
                  <a:schemeClr val="bg1"/>
                </a:solidFill>
              </a:rPr>
              <a:t>requests can be cached. 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GET </a:t>
            </a:r>
            <a:r>
              <a:rPr lang="en-US" dirty="0">
                <a:solidFill>
                  <a:schemeClr val="bg1"/>
                </a:solidFill>
              </a:rPr>
              <a:t>requests remain in the browser history.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 smtClean="0">
                <a:solidFill>
                  <a:srgbClr val="FFB500"/>
                </a:solidFill>
              </a:rPr>
              <a:t>HTTP POST Method</a:t>
            </a:r>
            <a:endParaRPr lang="en-IN" dirty="0">
              <a:solidFill>
                <a:srgbClr val="FFB5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119" y="1142232"/>
            <a:ext cx="458585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 is </a:t>
            </a:r>
            <a:r>
              <a:rPr lang="en-US" b="1" dirty="0">
                <a:solidFill>
                  <a:schemeClr val="bg1"/>
                </a:solidFill>
              </a:rPr>
              <a:t>used to </a:t>
            </a:r>
            <a:r>
              <a:rPr lang="en-US" b="1" dirty="0" smtClean="0">
                <a:solidFill>
                  <a:schemeClr val="bg1"/>
                </a:solidFill>
              </a:rPr>
              <a:t>create </a:t>
            </a:r>
            <a:r>
              <a:rPr lang="en-US" b="1" dirty="0">
                <a:solidFill>
                  <a:schemeClr val="bg1"/>
                </a:solidFill>
              </a:rPr>
              <a:t>data to a server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POST requests are never cached. 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POST </a:t>
            </a:r>
            <a:r>
              <a:rPr lang="en-US" dirty="0">
                <a:solidFill>
                  <a:schemeClr val="bg1"/>
                </a:solidFill>
              </a:rPr>
              <a:t>requests do not remain in the browser history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When you send a request body, Postman automatically adds the proper content headers for </a:t>
            </a:r>
            <a:r>
              <a:rPr lang="en-US" dirty="0" smtClean="0">
                <a:solidFill>
                  <a:schemeClr val="bg1"/>
                </a:solidFill>
              </a:rPr>
              <a:t>you.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POST is not idempotent means if you execute POST request </a:t>
            </a:r>
            <a:r>
              <a:rPr lang="en-US" dirty="0">
                <a:solidFill>
                  <a:schemeClr val="bg1"/>
                </a:solidFill>
              </a:rPr>
              <a:t>multiple times, you'll create a new resource multiple times despite them having the same data being passed in.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973" y="1350050"/>
            <a:ext cx="7177160" cy="10253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973" y="2721749"/>
            <a:ext cx="7142170" cy="39007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84" y="3370276"/>
            <a:ext cx="2162371" cy="13018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 smtClean="0">
                <a:solidFill>
                  <a:srgbClr val="FFB500"/>
                </a:solidFill>
              </a:rPr>
              <a:t>HTTP PUT Method</a:t>
            </a:r>
            <a:endParaRPr lang="en-IN" dirty="0">
              <a:solidFill>
                <a:srgbClr val="FFB5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9518" y="1308847"/>
            <a:ext cx="50049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PUT </a:t>
            </a:r>
            <a:r>
              <a:rPr lang="en-US" dirty="0">
                <a:solidFill>
                  <a:schemeClr val="bg1"/>
                </a:solidFill>
              </a:rPr>
              <a:t>is </a:t>
            </a:r>
            <a:r>
              <a:rPr lang="en-US" b="1" dirty="0">
                <a:solidFill>
                  <a:schemeClr val="bg1"/>
                </a:solidFill>
              </a:rPr>
              <a:t>used to </a:t>
            </a:r>
            <a:r>
              <a:rPr lang="en-IN" dirty="0">
                <a:solidFill>
                  <a:schemeClr val="bg1"/>
                </a:solidFill>
              </a:rPr>
              <a:t>to modify a </a:t>
            </a:r>
            <a:r>
              <a:rPr lang="en-IN" dirty="0" smtClean="0">
                <a:solidFill>
                  <a:schemeClr val="bg1"/>
                </a:solidFill>
              </a:rPr>
              <a:t>resource.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To create/update </a:t>
            </a:r>
            <a:r>
              <a:rPr lang="en-US" b="1" dirty="0">
                <a:solidFill>
                  <a:schemeClr val="bg1"/>
                </a:solidFill>
              </a:rPr>
              <a:t>a resource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PUT updates </a:t>
            </a:r>
            <a:r>
              <a:rPr lang="en-US" dirty="0">
                <a:solidFill>
                  <a:schemeClr val="bg1"/>
                </a:solidFill>
              </a:rPr>
              <a:t>the entire resource with data that is passed in the body payload. If there is no resource that matches the request, it will create a new resource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IN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PUT requests </a:t>
            </a:r>
            <a:r>
              <a:rPr lang="en-US" dirty="0">
                <a:solidFill>
                  <a:schemeClr val="bg1"/>
                </a:solidFill>
              </a:rPr>
              <a:t>are idempotent, meaning that executing the </a:t>
            </a:r>
            <a:r>
              <a:rPr lang="en-US" dirty="0" smtClean="0">
                <a:solidFill>
                  <a:schemeClr val="bg1"/>
                </a:solidFill>
              </a:rPr>
              <a:t>same. PUT </a:t>
            </a:r>
            <a:r>
              <a:rPr lang="en-US" dirty="0">
                <a:solidFill>
                  <a:schemeClr val="bg1"/>
                </a:solidFill>
              </a:rPr>
              <a:t>request will always produce the same result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122" name="Picture 2" descr="Postman Tutorial Part 8 – How to Send PUT Request in Postman - Make  Selenium Ea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720" y="2326254"/>
            <a:ext cx="6342207" cy="444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19" y="451671"/>
            <a:ext cx="6342207" cy="17143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5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 smtClean="0">
                <a:solidFill>
                  <a:srgbClr val="FFB500"/>
                </a:solidFill>
              </a:rPr>
              <a:t>HTTP   DELETE  Method</a:t>
            </a:r>
            <a:endParaRPr lang="en-IN" dirty="0">
              <a:solidFill>
                <a:srgbClr val="FFB5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856" y="1312977"/>
            <a:ext cx="5004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DELETE is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b="1" dirty="0">
                <a:solidFill>
                  <a:schemeClr val="bg1"/>
                </a:solidFill>
              </a:rPr>
              <a:t>used to </a:t>
            </a:r>
            <a:r>
              <a:rPr lang="en-IN" dirty="0">
                <a:solidFill>
                  <a:schemeClr val="bg1"/>
                </a:solidFill>
              </a:rPr>
              <a:t>to </a:t>
            </a:r>
            <a:r>
              <a:rPr lang="en-IN" dirty="0" smtClean="0">
                <a:solidFill>
                  <a:schemeClr val="bg1"/>
                </a:solidFill>
              </a:rPr>
              <a:t>delete </a:t>
            </a:r>
            <a:r>
              <a:rPr lang="en-IN" dirty="0">
                <a:solidFill>
                  <a:schemeClr val="bg1"/>
                </a:solidFill>
              </a:rPr>
              <a:t>a resource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40" y="515680"/>
            <a:ext cx="6441249" cy="1811884"/>
          </a:xfrm>
          <a:prstGeom prst="rect">
            <a:avLst/>
          </a:prstGeom>
        </p:spPr>
      </p:pic>
      <p:pic>
        <p:nvPicPr>
          <p:cNvPr id="7170" name="Picture 2" descr="Postman Tutorial Part 11 – Sending DELETE Request in Postman - Make  Selenium Ea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755" y="2660236"/>
            <a:ext cx="6425334" cy="404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7" y="63261"/>
            <a:ext cx="1497106" cy="3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3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U Grå">
  <a:themeElements>
    <a:clrScheme name="JU">
      <a:dk1>
        <a:srgbClr val="000000"/>
      </a:dk1>
      <a:lt1>
        <a:srgbClr val="FFFFFF"/>
      </a:lt1>
      <a:dk2>
        <a:srgbClr val="003865"/>
      </a:dk2>
      <a:lt2>
        <a:srgbClr val="EBEBDF"/>
      </a:lt2>
      <a:accent1>
        <a:srgbClr val="961B81"/>
      </a:accent1>
      <a:accent2>
        <a:srgbClr val="FFB500"/>
      </a:accent2>
      <a:accent3>
        <a:srgbClr val="003865"/>
      </a:accent3>
      <a:accent4>
        <a:srgbClr val="EBEBDF"/>
      </a:accent4>
      <a:accent5>
        <a:srgbClr val="009CDE"/>
      </a:accent5>
      <a:accent6>
        <a:srgbClr val="007A33"/>
      </a:accent6>
      <a:hlink>
        <a:srgbClr val="EBEBDF"/>
      </a:hlink>
      <a:folHlink>
        <a:srgbClr val="961B81"/>
      </a:folHlink>
    </a:clrScheme>
    <a:fontScheme name="Custom 1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64028</TotalTime>
  <Words>336</Words>
  <Application>Microsoft Office PowerPoint</Application>
  <PresentationFormat>Widescreen</PresentationFormat>
  <Paragraphs>73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JU Grå</vt:lpstr>
      <vt:lpstr>REST API basics</vt:lpstr>
      <vt:lpstr>Traditional web applications</vt:lpstr>
      <vt:lpstr>Traditional web applications</vt:lpstr>
      <vt:lpstr>Application programming interface</vt:lpstr>
      <vt:lpstr>PowerPoint Presentation</vt:lpstr>
      <vt:lpstr>PowerPoint Presentation</vt:lpstr>
      <vt:lpstr>Why you need REST API?</vt:lpstr>
      <vt:lpstr>PowerPoint Presentation</vt:lpstr>
      <vt:lpstr>PowerPoint Presentation</vt:lpstr>
      <vt:lpstr>PowerPoint Presentation</vt:lpstr>
      <vt:lpstr> CRUD stands for Create, Read, Update, and Delete, which make up these four fundamental operations.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Jönköping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Oskar Pollack</dc:creator>
  <cp:lastModifiedBy>Virendra</cp:lastModifiedBy>
  <cp:revision>547</cp:revision>
  <dcterms:created xsi:type="dcterms:W3CDTF">2015-07-17T09:22:03Z</dcterms:created>
  <dcterms:modified xsi:type="dcterms:W3CDTF">2026-04-06T01:54:18Z</dcterms:modified>
</cp:coreProperties>
</file>